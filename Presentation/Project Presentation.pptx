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MPI Execution Time vs Process Count (N=256)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4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proc</c:v>
                  </c:pt>
                  <c:pt idx="1">
                    <c:v>2 procs</c:v>
                  </c:pt>
                  <c:pt idx="2">
                    <c:v>4 procs</c:v>
                  </c:pt>
                  <c:pt idx="3">
                    <c:v>8 procs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1.466</c:v>
                </c:pt>
                <c:pt idx="1">
                  <c:v>0.911</c:v>
                </c:pt>
                <c:pt idx="2">
                  <c:v>0.538</c:v>
                </c:pt>
                <c:pt idx="3">
                  <c:v>0.479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Speedup vs Ideal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MPI Speedup</c:v>
                </c:pt>
              </c:strCache>
            </c:strRef>
          </c:tx>
          <c:spPr>
            <a:solidFill>
              <a:srgbClr val="00C4CC"/>
            </a:solidFill>
            <a:ln w="38100" cap="flat">
              <a:solidFill>
                <a:srgbClr val="00C4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4CC"/>
              </a:solidFill>
              <a:ln w="9525" cap="flat">
                <a:solidFill>
                  <a:srgbClr val="00C4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1.61</c:v>
                </c:pt>
                <c:pt idx="2">
                  <c:v>2.72</c:v>
                </c:pt>
                <c:pt idx="3">
                  <c:v>3.06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Linear</c:v>
                </c:pt>
              </c:strCache>
            </c:strRef>
          </c:tx>
          <c:spPr>
            <a:solidFill>
              <a:srgbClr val="444444"/>
            </a:solidFill>
            <a:ln w="38100" cap="flat">
              <a:solidFill>
                <a:srgbClr val="44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OpenMP Execution Time vs Thread Count (N=256)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thread</c:v>
                  </c:pt>
                  <c:pt idx="1">
                    <c:v>2 threads</c:v>
                  </c:pt>
                  <c:pt idx="2">
                    <c:v>4 threads</c:v>
                  </c:pt>
                  <c:pt idx="3">
                    <c:v>8 threads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0.997</c:v>
                </c:pt>
                <c:pt idx="1">
                  <c:v>0.959</c:v>
                </c:pt>
                <c:pt idx="2">
                  <c:v>1.253</c:v>
                </c:pt>
                <c:pt idx="3">
                  <c:v>1.79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Speedup Comparison: MPI vs OpenMP (N=256)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MPI Speedup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1.61</c:v>
                </c:pt>
                <c:pt idx="2">
                  <c:v>2.72</c:v>
                </c:pt>
                <c:pt idx="3">
                  <c:v>3.06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OMP Speedup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1.04</c:v>
                </c:pt>
                <c:pt idx="2">
                  <c:v>0.8</c:v>
                </c:pt>
                <c:pt idx="3">
                  <c:v>0.56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Ideal Linear</c:v>
                </c:pt>
              </c:strCache>
            </c:strRef>
          </c:tx>
          <c:spPr>
            <a:solidFill>
              <a:srgbClr val="4B5563"/>
            </a:solidFill>
            <a:ln w="38100" cap="flat">
              <a:solidFill>
                <a:srgbClr val="4B55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Parallel Efficiency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MPI Efficiency %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80.5</c:v>
                </c:pt>
                <c:pt idx="2">
                  <c:v>68.1</c:v>
                </c:pt>
                <c:pt idx="3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OMP Efficiency %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52</c:v>
                </c:pt>
                <c:pt idx="2">
                  <c:v>19.9</c:v>
                </c:pt>
                <c:pt idx="3">
                  <c:v>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F4F8"/>
                </a:solidFill>
                <a:latin typeface="Arial"/>
              </a:rPr>
              <a:t>Execution Time vs Grid Size (5000 epochs)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128x128</c:v>
                  </c:pt>
                  <c:pt idx="1">
                    <c:v>256x256</c:v>
                  </c:pt>
                  <c:pt idx="2">
                    <c:v>512x512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1.895</c:v>
                </c:pt>
                <c:pt idx="2">
                  <c:v>5.346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MPI (4 procs)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128x128</c:v>
                  </c:pt>
                  <c:pt idx="1">
                    <c:v>256x256</c:v>
                  </c:pt>
                  <c:pt idx="2">
                    <c:v>512x512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0.218</c:v>
                </c:pt>
                <c:pt idx="1">
                  <c:v>0.538</c:v>
                </c:pt>
                <c:pt idx="2">
                  <c:v>1.782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OMP (4 threads)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128x128</c:v>
                  </c:pt>
                  <c:pt idx="1">
                    <c:v>256x256</c:v>
                  </c:pt>
                  <c:pt idx="2">
                    <c:v>512x512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0.368</c:v>
                </c:pt>
                <c:pt idx="1">
                  <c:v>1.253</c:v>
                </c:pt>
                <c:pt idx="2">
                  <c:v>4.667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2A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C1F3A"/>
          </a:solidFill>
          <a:ln w="12700">
            <a:solidFill>
              <a:srgbClr val="0C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676656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SEECS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Processing | HPC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HPC Laplace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vs OpenMP Performance Analysis on NUST RCMS HPC Supercomputer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548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5852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86600" y="841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Asghar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55448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5910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8660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Attique Dawood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5603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2596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SYSTEM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86600" y="28529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RCMS Supercomputer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56616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86600" y="3858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Node: compute-0-5   |   CPU: AMD EPYC 7452   |   Solvers: Serial · MPI · OpenMP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 and why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Mapping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29 compute nodes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CPU, RAM, load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nodes by availability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all nodes offline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all jobs on master (AMD EPYC 7452)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Laplace Solver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heat diffusion on NxN grid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iterative method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MPI and OpenMP implementations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sizes: 32, 128, 256, 512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611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epochs, tolerance 1e-4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3444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2148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MPI: 3.06x speedup at 8 procs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OpenMP: degrades beyond 2 threads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effects cause OMP slowdown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correctness verified: 0.0 diff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611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is the superior model here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I: HPC Cluster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Node AMD EPYC 7452 — All 29 compute nodes were OFFLINE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913632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7452 32-Core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3913632" cy="274320"/>
          </a:xfrm>
          <a:prstGeom prst="rect">
            <a:avLst/>
          </a:prstGeom>
          <a:solidFill>
            <a:srgbClr val="102A50"/>
          </a:solidFill>
          <a:ln w="12700">
            <a:solidFill>
              <a:srgbClr val="102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3913632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/ Socket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185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78024"/>
            <a:ext cx="3913632" cy="274320"/>
          </a:xfrm>
          <a:prstGeom prst="rect">
            <a:avLst/>
          </a:prstGeom>
          <a:solidFill>
            <a:srgbClr val="102A50"/>
          </a:solidFill>
          <a:ln w="12700">
            <a:solidFill>
              <a:srgbClr val="102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/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779776"/>
            <a:ext cx="3913632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CPUs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081528"/>
            <a:ext cx="3913632" cy="274320"/>
          </a:xfrm>
          <a:prstGeom prst="rect">
            <a:avLst/>
          </a:prstGeom>
          <a:solidFill>
            <a:srgbClr val="102A50"/>
          </a:solidFill>
          <a:ln w="12700">
            <a:solidFill>
              <a:srgbClr val="102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GB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3913632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685032"/>
            <a:ext cx="3913632" cy="274320"/>
          </a:xfrm>
          <a:prstGeom prst="rect">
            <a:avLst/>
          </a:prstGeom>
          <a:solidFill>
            <a:srgbClr val="102A50"/>
          </a:solidFill>
          <a:ln w="12700">
            <a:solidFill>
              <a:srgbClr val="102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94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694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GB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986784"/>
            <a:ext cx="3913632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Buff/Cache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GB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288536"/>
            <a:ext cx="3913632" cy="274320"/>
          </a:xfrm>
          <a:prstGeom prst="rect">
            <a:avLst/>
          </a:prstGeom>
          <a:solidFill>
            <a:srgbClr val="102A50"/>
          </a:solidFill>
          <a:ln w="12700">
            <a:solidFill>
              <a:srgbClr val="102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(NUST RCMS)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143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ARCHITECTURE &amp; RAM DISTRIBUTION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Node 0  (CPUs 0-31, 64-95)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883664"/>
            <a:ext cx="374904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8836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CPUs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0060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Node 1  (CPUs 32-63, 96-127)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651760"/>
            <a:ext cx="37490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CPUs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(125 GB Total)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493008"/>
            <a:ext cx="689823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90423" y="3493008"/>
            <a:ext cx="1589593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0016" y="3493008"/>
            <a:ext cx="1439631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23GB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53GB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9480" y="3913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48GB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Solvers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implementations of the 2D Jacobi iterative solver for the Laplace equation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91220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Laplace Equation:  u[i][j] = 0.25 * ( u[i-1][j] + u[i+1][j] + u[i][j-1] + u[i][j+1] )    |   Boundary: Top = 100°C  (HOT)   Bottom = 0°C  (COLD)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02A50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56816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1956816"/>
            <a:ext cx="82296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core, single thread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9626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4 neighbors per cell per epoch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3832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correctness reference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N=256: 1.895s baseline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2245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clock_gettime for timing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901952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956816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956816"/>
            <a:ext cx="82296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Row-wise domain decomposition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9626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row exchange: MPI_Sendrecv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64992" y="33832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convergence: MPI_Allreduce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8039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gather: MPI_Gatherv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42245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1, 2, 4, 8 processes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901952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02A5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956816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18120" y="1956816"/>
            <a:ext cx="82296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25420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+ for schedule(static)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296265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per-thread max array (GCC 4.4.7 fix)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33832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reduction(max:) support in old GCC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380390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barrier after each parallel for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42245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1, 2, 4, 8 threads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Scaling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N=256, 5000 epochs — consistent speedup as processes increase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process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424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processes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424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424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517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processes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196596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806440" y="1965960"/>
          <a:ext cx="3017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Scaling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N=256, 5000 epochs — PERFORMANCE DEGRADES beyond 2 threads (NUMA effect)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987552"/>
          </a:xfrm>
          <a:prstGeom prst="roundRect">
            <a:avLst>
              <a:gd name="adj" fmla="val 9259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42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thread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100%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65960" cy="987552"/>
          </a:xfrm>
          <a:prstGeom prst="roundRect">
            <a:avLst>
              <a:gd name="adj" fmla="val 9259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42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52%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65960" cy="987552"/>
          </a:xfrm>
          <a:prstGeom prst="roundRect">
            <a:avLst>
              <a:gd name="adj" fmla="val 9259"/>
            </a:avLst>
          </a:prstGeom>
          <a:solidFill>
            <a:srgbClr val="102A5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42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1.253s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965960" cy="987552"/>
          </a:xfrm>
          <a:prstGeom prst="roundRect">
            <a:avLst>
              <a:gd name="adj" fmla="val 9259"/>
            </a:avLst>
          </a:prstGeom>
          <a:solidFill>
            <a:srgbClr val="102A5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424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1.790s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7%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10312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806440" y="2103120"/>
            <a:ext cx="3017520" cy="2743200"/>
          </a:xfrm>
          <a:prstGeom prst="roundRect">
            <a:avLst>
              <a:gd name="adj" fmla="val 3333"/>
            </a:avLst>
          </a:prstGeom>
          <a:solidFill>
            <a:srgbClr val="102A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97880" y="2176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OMP DEGRADES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97880" y="25420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penalty: cross-socket memory latency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29626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sharing at thread strip boundaries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97880" y="33832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barrier per epoch adds overhead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97880" y="380390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saturation (8 threads)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97880" y="42245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solver is memory-bound not compute-bound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vs OpenMP: Head-to-Head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N=256, 5000 epochs — MPI wins decisively at all parallelism levels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32120" y="1051560"/>
          <a:ext cx="3291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251960"/>
          <a:ext cx="8412480" cy="786384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874520"/>
                <a:gridCol w="1874520"/>
              </a:tblGrid>
              <a:tr h="1572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Procs /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 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OMP Time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 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OMP 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1572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</a:tr>
              <a:tr h="1572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1572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</a:tr>
              <a:tr h="1572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Size Scaling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4 procs / 4 threads across 128x128, 256x256, 512x512 grids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34840"/>
          <a:ext cx="5303520" cy="59436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97280"/>
                <a:gridCol w="1097280"/>
                <a:gridCol w="1005840"/>
              </a:tblGrid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 4P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OMP 4T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 vs Serial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128x128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256x256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512x512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5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1051560"/>
            <a:ext cx="3017520" cy="3977640"/>
          </a:xfrm>
          <a:prstGeom prst="roundRect">
            <a:avLst>
              <a:gd name="adj" fmla="val 3030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97880" y="1115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897880" y="14813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is fastest at every grid size tested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897880" y="19019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N=128 not benchmarked separately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897880" y="23225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at N=256 is slower than serial baseline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897880" y="27432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N=512 OMP (4.667s) nearly matches serial (5.346s)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897880" y="31638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gives 3.52x gain over serial at N=256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897880" y="35844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efficiency drops as grid grows larger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97880" y="40050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N=512: solver hits 5000 epoch cap before converging to 1e-4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97880" y="44256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grids need multigrid or SOR to converge faster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Correctness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solvers verified to produce bit-for-bit identical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 MPI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diff: 0.0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2A5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 OMP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diff: 0.0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02A50"/>
          </a:solidFill>
          <a:ln w="1270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6364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diff: Max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8412480" cy="2331720"/>
          </a:xfrm>
          <a:prstGeom prst="roundRect">
            <a:avLst>
              <a:gd name="adj" fmla="val 3922"/>
            </a:avLst>
          </a:prstGeom>
          <a:solidFill>
            <a:srgbClr val="060F1E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33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OUTPUT — verify_correctness.py 32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Comparing:  laplace_serial_32.csv  vs  laplace_mpi_32.csv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1363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 absolute difference : 0.0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284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 absolute difference: 0.0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Tolerance               : 0.01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7124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RESULT: PASS -- outputs match within tolerance.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904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965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Comparing:  laplace_serial_32.csv  vs  laplace_omp_32.csv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885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 absolute difference : 0.0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 absolute difference: 0.0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6725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RESULT: PASS -- outputs match within tolerance.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Discussion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MPI outperforms OpenMP on this NUMA machine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PERFORMANCE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memory per process — no false sharing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maps to NUMA (each process bound to a domain)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140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4 procs: 2.72x speedup, 68% efficiency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84378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8 procs: 3.06x speedup, 38% efficiency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row exchange (MPI_Sendrecv) is the bottleneck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grows with proc count over 5000 epochs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13308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Isend/Irecv could reduce overlap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102A5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1556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DEGRADATION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7452 has 2 NUMA sockets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9842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on socket 1 pay cross-socket latency for socket 0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41401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is memory-bandwidth-bound (4 reads per cell update)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84378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sensitive to NUMA — any cross-socket access hurts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2735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sharing: adjacent rows share cache lines at boundaries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703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sync barrier per epoch compounds per 5000 epochs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413308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bus saturates with all 8 threads competing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Bottlenecks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limitations and technical constraints encountered during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02A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Convergence at Large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N=512 with 5000 epochs the solver does not reach tolerance 1e-4. Boundary conditions take more iterations to propagate across larger grids. A multigrid preconditioner or SOR (Successive Over-Relaxation) would converge significantly faster than Jacobi.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306324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02A5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31363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Ghost Row Overhead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efficiency drops from 80% at 2 procs to 38% at 8 procs due to increasing ghost row communication overhead per epoch. Non-blocking MPI_Isend / MPI_Irecv could overlap communication with interior computation to reduce this penalty.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09728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02A5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1704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11704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NUMA Penalty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1691640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performance degrades beyond 2 threads due to NUMA effects on the AMD EPYC 7452 two-socket system. Thread affinity pinning and NUMA-aware memory allocation (numa_alloc_onnode) would help keep threads and their data on the same socket.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02A50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1363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Compiler Constraints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4.4.7 on the HPC required C++03 compatible code. Required: replacing chrono with clock_gettime, constexpr with #define, to_string with ostringstream, and implementing the OpenMP max reduction manually with a per-thread array.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676656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2.72x speedup at 4 processes, 3.06x at 8 processes — good scaling with acceptable efficiency on this problem class.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938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92938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beyond 2 threads due to NUMA effects on the AMD EPYC 7452 dual-socket machine — an important real-world finding.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68833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is the superior model for memory-bandwidth-bound problems on NUMA hardware. Private address spaces eliminate false sharing and cross-socket latency.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472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344728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solvers produce bit-for-bit identical results verified with 0.0 max absolute difference, confirming correct inter-process communication.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062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420624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improvements: non-blocking MPI_Isend/Irecv to overlap communication, NUMA-aware thread pinning for OMP, and multigrid / SOR for faster convergence.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6400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14032" y="6858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14032" y="95097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 Distributed Processing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719072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17647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14032" y="202996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Attique Dawood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2798064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14032" y="284378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14032" y="310896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Asghar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3877056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02A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14032" y="39227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14032" y="418795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RCMS Supercomputer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Laplace Solver - Parallel &amp; Distributed Processing</dc:title>
  <dc:subject>PptxGenJS Presentation</dc:subject>
  <dc:creator>Awais Asghar</dc:creator>
  <cp:lastModifiedBy>Awais Asghar</cp:lastModifiedBy>
  <cp:revision>1</cp:revision>
  <dcterms:created xsi:type="dcterms:W3CDTF">2026-06-10T03:22:01Z</dcterms:created>
  <dcterms:modified xsi:type="dcterms:W3CDTF">2026-06-10T03:22:01Z</dcterms:modified>
</cp:coreProperties>
</file>